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2743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 i="0">
                <a:solidFill>
                  <a:srgbClr val="FFD966"/>
                </a:solidFill>
                <a:latin typeface="Calibri"/>
              </a:rPr>
              <a:t>ALCALDÍA DE SANTIAGO DE CALI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54864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Secretaría de Educación Distrital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PLAN MAESTRO DE INFRAESTRUCTURA EDUCATIVA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D966"/>
                </a:solidFill>
                <a:latin typeface="Calibri"/>
              </a:rPr>
              <a:t>PMIE  2026  —  2039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Distrito de Santiago de Cali · Horizonte 2026–2039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FFD966"/>
                </a:solidFill>
                <a:latin typeface="Calibri"/>
              </a:rPr>
              <a:t>Presentación Ejecutiva — Proceso del Plan y Resultados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Subsecretaría de Planeación Sectorial ·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2/22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Contenido de la presentación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1069848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01368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1. Contexto y marco normativo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01368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Constitución, NSR-10, NTC 4595, NTC 6705:2023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67128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85416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2. Antecedentes del Plan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85416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Continuidad metodológica + innovaciones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51176"/>
            <a:ext cx="1069848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69464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3. Metodología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69464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Fases NTC 6705 · Modelo MCDE-T · Instrumentos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35224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53512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4. Diagnóstico integral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53512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Estructural · Funcional · Capacidad · Eficiencia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19272"/>
            <a:ext cx="1069848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5. Árbol de decisión técnico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37560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11 nodos oficiales · 3 parámetros configurables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03320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21608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6. Resultados del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21608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Distribución por programa · Inversión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87368"/>
            <a:ext cx="1069848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05656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7. Cobertura de matrícula no oficial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105656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Inclusión de demanda insatisfecha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71416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89704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8. Plan de inversión y financiación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89704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Escenarios · Fases temporales · Fuentes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55464"/>
            <a:ext cx="1069848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73752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9. Herramienta Consolidada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873752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Aplicativo web autocontenido · Ciclo trianual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39512"/>
            <a:ext cx="10698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4114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10. Conclusiones y recomendaciones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257800"/>
            <a:ext cx="64008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Hallazgos · Acciones de implementación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3/22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El reto del parque escolar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Por qué actualizar el Plan Maestro 2019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651760" cy="7315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24688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0F4761"/>
                </a:solidFill>
                <a:latin typeface="Calibri"/>
              </a:rPr>
              <a:t>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sedes oficiales
en el Distrito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828800"/>
            <a:ext cx="265176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057400"/>
            <a:ext cx="24688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  <a:latin typeface="Calibri"/>
              </a:rPr>
              <a:t>316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sedes con
levantamiento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057400"/>
            <a:ext cx="24688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C9A227"/>
                </a:solidFill>
                <a:latin typeface="Calibri"/>
              </a:rPr>
              <a:t>141.414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estudiantes
matriculados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8288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651760" cy="73152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057400"/>
            <a:ext cx="24688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1F6B2A"/>
                </a:solidFill>
                <a:latin typeface="Calibri"/>
              </a:rPr>
              <a:t>22+15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7889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comunas urbanas +
corregimientos rurales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F4761"/>
                </a:solidFill>
                <a:latin typeface="Calibri"/>
              </a:rPr>
              <a:t>Factores que justifican la actualización del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Expedición de la NTC 6705:2023 — Norma específica para planes maestros de infraestructura educativa.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8056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Política Nacional de Infraestructura Educativa MEN (2022) — Lineamientos actualizados.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Transformación demográfica y territorial post-pandemia COVID-19.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2920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Actualización SIMAT 2024–2026 y nueva Brecha Estructural NSR-10 (1.480 bloques).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0352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Corrección de limitaciones del Plan 2019 (índice NTC con 221 sedes en 0,6719 idénticas).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77840"/>
            <a:ext cx="10241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▸  Necesidad de sostenibilidad técnica con herramientas digitales actualizables.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4/22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Marco Normativo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Sustento jurídico y técnico del PMIE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749039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37490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NACIONAL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Constitución Política · Art. 67 (Educación derecho fundamental)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Ley 115 de 1994 — Ley General de Educación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Ley 715 de 2001 — Responsabilidad distrital del servicio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NSR-10 (Decreto 926/2010) — Sismo resistencia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NTC 4595 — Planeamiento espacios escolares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NTC 6705:2023 — Planes Maestros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Decreto 1421/2017 — Educación inclusiva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692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Política Nacional Infraestructura Educativa MEN 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828800"/>
            <a:ext cx="3749039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1874519"/>
            <a:ext cx="37490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DISTRITAL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4688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5146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Plan de Desarrollo «Cali, Ciudad que Educa y Aprende» 2024-2027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9260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718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Plan Sectorial de Educación 2024-2027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4290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Decreto Distrital 4112.010.20.0403 de 2020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8404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8862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Manual de Intervención de Infraestructura Escolar (2023)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2976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3434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POT — Plan de Ordenamiento Territorial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548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8006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PMIE 2019 (antecedente metodológico)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828800"/>
            <a:ext cx="3749039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874519"/>
            <a:ext cx="374903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INTERNACIONAL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4688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5146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Agenda 2030 — ODS 4 (Educación de Calidad)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9260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9718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UNESCO — Marco Educación 2030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38328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34290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OCDE — Innovative Learning Environments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840480"/>
            <a:ext cx="3749039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3886200"/>
            <a:ext cx="3566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• BID/Banco Mundial — Escuelas Seguras (GPSS)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5/22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Metodología — NTC 6705:2023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Cuatro fases del proceso de formulación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828800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874519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74320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2743200" cy="21488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DIAGNÓSTICO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Inventario y estado
del parque escolar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Cap. 4–5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828800"/>
            <a:ext cx="64008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874519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560320"/>
            <a:ext cx="27432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2606040"/>
            <a:ext cx="2743200" cy="21488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  <a:latin typeface="Calibri"/>
              </a:rPr>
              <a:t>ANÁLISIS BRECHAS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Cuantificación BF, BE, BC
Quintiles de eficiencia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4572000"/>
            <a:ext cx="27432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61772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Cap.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182880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874519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560320"/>
            <a:ext cx="27432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2606040"/>
            <a:ext cx="2743200" cy="21488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E75B6"/>
                </a:solidFill>
                <a:latin typeface="Calibri"/>
              </a:rPr>
              <a:t>FORMULACIÓN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Árbol de decisión
Programas P1–P8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572000"/>
            <a:ext cx="27432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61772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Cap. 6–7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828800"/>
            <a:ext cx="640080" cy="64008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874519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2560320"/>
            <a:ext cx="2743200" cy="4572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2606040"/>
            <a:ext cx="2743200" cy="21488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F6B2A"/>
                </a:solidFill>
                <a:latin typeface="Calibri"/>
              </a:rPr>
              <a:t>IMPLEMENTACIÓN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Cronograma · Financiación
Gestión y seguimiento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4572000"/>
            <a:ext cx="2743200" cy="45720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461772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Cap. 7–8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FASE V — CONSOLIDACIÓN (Abr–Jun 2026)  ·  Documento técnico definitivo + Herramienta Consolidada + Validación académica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6/22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Proyección de Matrícula — Modelo MCDE-T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Cohortes Demográfico-Educativo Territorial</a:t>
            </a:r>
          </a:p>
        </p:txBody>
      </p:sp>
      <p:pic>
        <p:nvPicPr>
          <p:cNvPr id="10" name="Picture 9" descr="G13_proyeccion_matr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33734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1828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F4761"/>
                </a:solidFill>
                <a:latin typeface="Calibri"/>
              </a:rPr>
              <a:t>Modelo recursivo MCDE-T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331720"/>
            <a:ext cx="4297680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4231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M(s, g, t+1)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743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  M(s, g−1, t) · p_aprob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9718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+ M(s, g, t) · p_rep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Parámetros del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886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p_aprob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8862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0,90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88620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Promoción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1605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p_rep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60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0,05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16052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Repitencia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434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  <a:latin typeface="Calibri"/>
              </a:rPr>
              <a:t>p_retiro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4348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0,05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43484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Retiro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846320"/>
            <a:ext cx="4297680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Resultados de la proyección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2120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2024: 141.414 estudiantes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4406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2039: 126.720 estudiantes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6692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D966"/>
                </a:solidFill>
                <a:latin typeface="Calibri"/>
              </a:rPr>
              <a:t>Δ = −10,4% (CAGR −0,73%/año)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7/22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Diagnóstico Estructural — NSR-10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316 sedes evaluadas · escenario Sismo de Diseño (Aa=0,25g)</a:t>
            </a:r>
          </a:p>
        </p:txBody>
      </p:sp>
      <p:pic>
        <p:nvPicPr>
          <p:cNvPr id="10" name="Picture 9" descr="G1_riesgo_NS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132320" cy="394630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79" y="1783080"/>
            <a:ext cx="393192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Hallazgo crítico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7744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Calibri"/>
              </a:rPr>
              <a:t>175 sedes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Calibri"/>
              </a:rPr>
              <a:t>(55,4 % del parque)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38328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con urgencia CRÍTICA o MUY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6576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Activan Nodo N5 → Programa P2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4206240"/>
            <a:ext cx="393192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2976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Patologías frecuentes: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6177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Falta de riostras / reforzamientos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Ausencia de dilataciones entre bloques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50749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Confinamientos insuficientes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3035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Cubiertas con anclajes inadecuados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321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Cimentación de profundidad insuficiente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7607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Materiales degradados (humedad/corrosión)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8/22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Diagnóstico Funcional — NTC 4595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Índice sintético sobre 23 tipologías de espacios pedagógicos</a:t>
            </a:r>
          </a:p>
        </p:txBody>
      </p:sp>
      <p:pic>
        <p:nvPicPr>
          <p:cNvPr id="10" name="Picture 9" descr="G2_ntc45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943600" cy="3276277"/>
          </a:xfrm>
          <a:prstGeom prst="rect">
            <a:avLst/>
          </a:prstGeom>
        </p:spPr>
      </p:pic>
      <p:pic>
        <p:nvPicPr>
          <p:cNvPr id="11" name="Picture 10" descr="G6_calific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37360"/>
            <a:ext cx="5394960" cy="326131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Promedio NTC 4595 del Distrito: 0,707  ·  86 sedes en condición prioritaria (índice &lt; 0,66)  ·  Programa P3 atiende 192 sedes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Factor de costo por calificación se aplica con interpolación lineal: cal 1,0 → 100% · cal 2,0 → 75% · cal 3,0 → 50% · cal 4,0 → 25%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9/22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Diagnóstico de Capacidad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Aplicación del estándar NTC 6705:2023 — 5,36 m²/estudiante</a:t>
            </a:r>
          </a:p>
        </p:txBody>
      </p:sp>
      <p:pic>
        <p:nvPicPr>
          <p:cNvPr id="10" name="Picture 9" descr="G4_m2_estudi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943600" cy="3286343"/>
          </a:xfrm>
          <a:prstGeom prst="rect">
            <a:avLst/>
          </a:prstGeom>
        </p:spPr>
      </p:pic>
      <p:pic>
        <p:nvPicPr>
          <p:cNvPr id="11" name="Picture 10" descr="G5_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5029200" cy="43191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669280"/>
            <a:ext cx="3657600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500.401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déficit acumulado de área construida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5669280"/>
            <a:ext cx="365760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71500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93 sedes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nuevas equivalentes al déficit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5669280"/>
            <a:ext cx="3657600" cy="77724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571500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54,1 %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126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sedes con POT Posible (P4)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10/22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Brecha Funcional Desagregada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Componentes del costo de cumplimiento NTC 4595</a:t>
            </a:r>
          </a:p>
        </p:txBody>
      </p:sp>
      <p:pic>
        <p:nvPicPr>
          <p:cNvPr id="10" name="Picture 9" descr="G3_brecha_fun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315200" cy="45231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955279" y="1783080"/>
            <a:ext cx="3931920" cy="4572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Algoritmo de cálculo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331720"/>
            <a:ext cx="393192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423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BF = Σ_espacios C_adec + C_amp + C_predio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43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C_adec = A_exist × VR × f(cal) × FD × IPC × 1,14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017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C_amp = A_déficit × VR_nuevo × FD × IPC × 1,14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291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C_predio = A_lote × VR_predio × FD × IPC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Overhead 14% = 7% estudios + 7% interventoría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251960"/>
            <a:ext cx="3931920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3434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BRECHA FUNCIONAL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0060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$2.076 MM COP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53212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FFD966"/>
                </a:solidFill>
                <a:latin typeface="Calibri"/>
              </a:rPr>
              <a:t>$2,08 Billones COP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80644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FFD966"/>
                </a:solidFill>
                <a:latin typeface="Calibri"/>
              </a:rPr>
              <a:t>79,1% en ampliaciones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11/22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Brechas Consolidadas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BF (NTC 4595) + BE (NSR-10) + Cobertura + P6 = Plan Total</a:t>
            </a:r>
          </a:p>
        </p:txBody>
      </p:sp>
      <p:pic>
        <p:nvPicPr>
          <p:cNvPr id="10" name="Picture 9" descr="G14_brecha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1640"/>
            <a:ext cx="7315200" cy="2782469"/>
          </a:xfrm>
          <a:prstGeom prst="rect">
            <a:avLst/>
          </a:prstGeom>
        </p:spPr>
      </p:pic>
      <p:pic>
        <p:nvPicPr>
          <p:cNvPr id="11" name="Picture 10" descr="G11_brechas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7315200" cy="397063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63840" y="1783080"/>
            <a:ext cx="402336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VALOR TOTAL DEL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7744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 i="0">
                <a:solidFill>
                  <a:srgbClr val="0F4761"/>
                </a:solidFill>
                <a:latin typeface="Calibri"/>
              </a:rPr>
              <a:t>$ 4,27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0632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Billones de pesos COP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657600"/>
            <a:ext cx="914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67588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BF — Brecha Funcional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3675888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$2,076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3675888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48,6%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041648"/>
            <a:ext cx="914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BE — Brecha Estructural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4059936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$0,796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4059936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18,6%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425696"/>
            <a:ext cx="91440" cy="36576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44398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Cobertura NO OFICIAL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4443984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$0,772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4443984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18,1%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9744"/>
            <a:ext cx="91440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48280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P6 — Cierre + Nuevas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82803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$1,800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482803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42,1%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12/22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Árbol de Decisión Técnico — 11 Nodos Oficiales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Lógica jerarquizada con asignación múltiple a programas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430000" cy="4572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Pregunta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SÍ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2257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2257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¿Sede en Q1 o Q2?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225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N1a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225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11430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4261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N1a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4261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¿BC &gt; 70% × VR Reconstrucción?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6426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N3b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426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2608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6265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96265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¿Sede rural?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96265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N1a (re-entra)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96265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N2a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11430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8269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N2a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28269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¿Sede principal o única?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28269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N1a (re-entra)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28269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N4a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56616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0273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60273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¿Requiere ampliación?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60273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N3a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60273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86200"/>
            <a:ext cx="11430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92277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N3a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392277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¿Capacidad de ampliación (POT)?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9227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P4 + N5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9227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N4 + N5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0624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24281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N3b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24281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¿Reconstrucción misma área?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2428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P4 + P3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42428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N4b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526280"/>
            <a:ext cx="11430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56285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456285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¿Redistribución posible?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456285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56285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P1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4632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88289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N4a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488289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¿Redistribución (≥ MinQ12)?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88289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P6 (cierre)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88289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P7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166360"/>
            <a:ext cx="11430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20293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N4b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520293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¿Redistribución alta brecha?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520293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P5 + P8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520293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P5 + P1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486400"/>
            <a:ext cx="11430000" cy="3200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522976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N5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552297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¿Riesgo Estructural CRÍTICA/MUY ALTA?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55229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6B2A"/>
                </a:solidFill>
                <a:latin typeface="Calibri"/>
              </a:rPr>
              <a:t>P2 + P3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552297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P3 (BE absorbida)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03504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Una sede puede caer en múltiples programas simultáneamente (p. ej. P3+P4 o P2+P3 o P5+P1+P3). El árbol opera con 3 parámetros configurables: Q-Corte, Umbral BC/VR, MinQ12.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13/22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Resultados — Sedes por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Aplicación del árbol con parámetros por defecto (Q-Corte=Q2, Umbral=70%)</a:t>
            </a:r>
          </a:p>
        </p:txBody>
      </p:sp>
      <p:pic>
        <p:nvPicPr>
          <p:cNvPr id="10" name="Picture 9" descr="G8_sedes_pr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315200" cy="40011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182880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8 Programas Oficiales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286000"/>
            <a:ext cx="45720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286000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Construcción Nueva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0" y="2286000"/>
            <a:ext cx="82296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233172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670048"/>
            <a:ext cx="45720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715768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670048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715768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Refuerzo Estructural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2670048"/>
            <a:ext cx="8229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0" y="2715768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054096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099816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054096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099816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Adecuación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4240" y="3054096"/>
            <a:ext cx="822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3099816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438144"/>
            <a:ext cx="457200" cy="384048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483864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438144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483864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Ampliación Sitio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64240" y="3438144"/>
            <a:ext cx="822960" cy="384048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3483864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822192"/>
            <a:ext cx="45720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867912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822192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86791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Redistribución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64240" y="3822192"/>
            <a:ext cx="822960" cy="38404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4240" y="3867912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206240"/>
            <a:ext cx="45720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425196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25196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Cierre + Nuevas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4206240"/>
            <a:ext cx="822960" cy="3840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64240" y="4251960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590288"/>
            <a:ext cx="45720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4636008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4590288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4636008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Adecuación Parcial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64240" y="4590288"/>
            <a:ext cx="822960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64240" y="4636008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4974336"/>
            <a:ext cx="457200" cy="384048"/>
          </a:xfrm>
          <a:prstGeom prst="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5020056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4974336"/>
            <a:ext cx="2651760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5020056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Reconstrucción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64240" y="4974336"/>
            <a:ext cx="822960" cy="384048"/>
          </a:xfrm>
          <a:prstGeom prst="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64240" y="5020056"/>
            <a:ext cx="822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14/22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Resultados — Inversión por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Distribución del valor total del Plan PMIE 2026 ($4,27 B COP)</a:t>
            </a:r>
          </a:p>
        </p:txBody>
      </p:sp>
      <p:pic>
        <p:nvPicPr>
          <p:cNvPr id="10" name="Picture 9" descr="G10_distribuc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760720" cy="4427453"/>
          </a:xfrm>
          <a:prstGeom prst="rect">
            <a:avLst/>
          </a:prstGeom>
        </p:spPr>
      </p:pic>
      <p:pic>
        <p:nvPicPr>
          <p:cNvPr id="11" name="Picture 10" descr="G9_inversion_pr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577840" cy="3050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15/22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Atención de Matrícula NO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Programa P1 incluye demanda insatisfecha en sedes privadas de cobertura</a:t>
            </a:r>
          </a:p>
        </p:txBody>
      </p:sp>
      <p:pic>
        <p:nvPicPr>
          <p:cNvPr id="10" name="Picture 9" descr="G15_oficial_no_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858000" cy="37224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1783080"/>
            <a:ext cx="4297680" cy="45720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Cobertura adicional al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77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1F6B2A"/>
                </a:solidFill>
                <a:latin typeface="Calibri"/>
              </a:rPr>
              <a:t>19.785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71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0F4761"/>
                </a:solidFill>
                <a:latin typeface="Calibri"/>
              </a:rPr>
              <a:t>estudiantes NO OFICIALES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383280"/>
            <a:ext cx="4297680" cy="21945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47472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Fórmula de cálculo del costo: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7947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Costo = (Mat × 5,36 m²) × (Predio + Constr.) × FD × IPC × 1,14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2062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Valores unitarios (Tabla de Costos 2026):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52628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Predio /m²: $1.797.977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80060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F4761"/>
                </a:solidFill>
                <a:latin typeface="Calibri"/>
              </a:rPr>
              <a:t>• Constr. Con Ext. /m²: $4.340.750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07492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1F6B2A"/>
                </a:solidFill>
                <a:latin typeface="Calibri"/>
              </a:rPr>
              <a:t>• Suma: $6.138.727/m²  +14% = $6.998.149/m²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5669280"/>
            <a:ext cx="4297680" cy="77724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571500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$ 772 MM COP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612648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Inversión adicional para cobertura (incluida en P1)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16/22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Quintiles de Eficiencia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Análisis de costo-efectividad: BC/Matrícula por sede</a:t>
            </a:r>
          </a:p>
        </p:txBody>
      </p:sp>
      <p:pic>
        <p:nvPicPr>
          <p:cNvPr id="10" name="Picture 9" descr="G7_qui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27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4761"/>
                </a:solidFill>
                <a:latin typeface="Calibri"/>
              </a:rPr>
              <a:t>Implicación estratégica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331720"/>
            <a:ext cx="548640" cy="64008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331720"/>
            <a:ext cx="91440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$11,8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33172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377440"/>
            <a:ext cx="2057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Mayor eficiencia
Inversión directa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971800"/>
            <a:ext cx="54864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10896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971800"/>
            <a:ext cx="91440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1089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$17,6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97180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3017520"/>
            <a:ext cx="2057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Buena eficiencia
Inversión justificada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611880"/>
            <a:ext cx="548640" cy="640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7490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611880"/>
            <a:ext cx="91440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7490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$22,0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361188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3657600"/>
            <a:ext cx="2057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Moderada
Evaluar BC/VR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251960"/>
            <a:ext cx="5486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38912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4251960"/>
            <a:ext cx="91440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3891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$26,8 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425196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4297680"/>
            <a:ext cx="2057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Baja eficiencia
Prob. reconstrucción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892040"/>
            <a:ext cx="54864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502920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4892040"/>
            <a:ext cx="91440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50292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4761"/>
                </a:solidFill>
                <a:latin typeface="Calibri"/>
              </a:rPr>
              <a:t>$36,4 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489204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4937760"/>
            <a:ext cx="2057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0F4761"/>
                </a:solidFill>
                <a:latin typeface="Calibri"/>
              </a:rPr>
              <a:t>Eficiencia mínima
Cierre/Redistribución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17/22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Plan de Inversión 2026–2039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Tres fases de implementación · Múltiples fuentes de financiación</a:t>
            </a:r>
          </a:p>
        </p:txBody>
      </p:sp>
      <p:pic>
        <p:nvPicPr>
          <p:cNvPr id="10" name="Picture 9" descr="G12_fases_tempor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858000" cy="37327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1783080"/>
            <a:ext cx="4297680" cy="4572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Fuentes de financiación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331720"/>
            <a:ext cx="429768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3774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SGP — Recursos propios Distrito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23774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Anual 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743200"/>
            <a:ext cx="4297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7889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FFIE — Fondo 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7889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Resolución 21534/17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154680"/>
            <a:ext cx="429768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32004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Banco de Proyectos Nacional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200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BPIN — DNP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566160"/>
            <a:ext cx="4297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36118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Cooperación internacional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6118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BID, BM, GIZ, USAID, AECID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977640"/>
            <a:ext cx="429768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40233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Alianzas Público-Privadas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40233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Ley 1508/12 — P6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389120"/>
            <a:ext cx="42976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4348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Sobretasa gasolina / Estampillas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Inversión territorial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800600"/>
            <a:ext cx="4297680" cy="411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48463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Calibri"/>
              </a:rPr>
              <a:t>Fondo Adaptación / Riesgo Sísmico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48463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Ley 1523/12 — P2/P8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18/22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Herramienta Consolidada — Entregable Diferencial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Aplicativo web autocontenido · Sostenibilidad técnica del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8803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H1 — PROYECCIÓN MATRÍCULA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88036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2606040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4761"/>
                </a:solidFill>
                <a:latin typeface="Calibri"/>
              </a:rPr>
              <a:t>Modelo MCDE-T
Carga SIMAT 2024/2026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880360" cy="54864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874519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H2 — INDICADOR NTC 4595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377440"/>
            <a:ext cx="288036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2606040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4761"/>
                </a:solidFill>
                <a:latin typeface="Calibri"/>
              </a:rPr>
              <a:t>Índice sintético
BASE CONSOLIDADA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288036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H3 — BRECHA FUNCIONAL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77440"/>
            <a:ext cx="288036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68880"/>
            <a:ext cx="2606040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4761"/>
                </a:solidFill>
                <a:latin typeface="Calibri"/>
              </a:rPr>
              <a:t>23 tipologías
Interpolación cal.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828800"/>
            <a:ext cx="288036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874519"/>
            <a:ext cx="28803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H4 — ÁRBOL DECISIÓN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377440"/>
            <a:ext cx="2880360" cy="1828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468880"/>
            <a:ext cx="2606040" cy="1691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4761"/>
                </a:solidFill>
                <a:latin typeface="Calibri"/>
              </a:rPr>
              <a:t>11 nodos · 3 parámetros
Resultados configurables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430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Ciclo de actualización trianual del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074920"/>
            <a:ext cx="256032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2029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5074920"/>
            <a:ext cx="256032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512064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2032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74920"/>
            <a:ext cx="256032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12064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2035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5074920"/>
            <a:ext cx="256032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120640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2038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En un día hábil: cargar SIMAT actualizado + BASE CONSOLIDADA + COSTOS → exportar Excel del Plan actualizado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19/22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Hallazgos Centrales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Síntesis del diagnóstico y resultados del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7889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02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19659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ESCALA DEL DESAFÍO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2788920" cy="32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51460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El 98,5% de las sedes requieren intervención.
Valor del Plan: $4,27 B COP
&gt;4× el presupuesto anual 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78892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502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874519"/>
            <a:ext cx="19659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PRIORIDAD SÍSMICA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377440"/>
            <a:ext cx="2788920" cy="32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514600"/>
            <a:ext cx="251460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75,3% de las sedes con riesgo sísmico ALTO.
175 sedes CRÍTICA + MUY ALTA
Programas P2 + P8 son urgentes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78892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02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874519"/>
            <a:ext cx="19659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DÉFICIT DE COBERTURA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77440"/>
            <a:ext cx="2788920" cy="32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514600"/>
            <a:ext cx="251460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19.785 estudiantes en sedes NO OFICIALES.
Proyectables a &gt;42.000 (2026)
P1 incluye $772 MM adicionales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828800"/>
            <a:ext cx="2788920" cy="548640"/>
          </a:xfrm>
          <a:prstGeom prst="rect">
            <a:avLst/>
          </a:prstGeom>
          <a:solidFill>
            <a:srgbClr val="1F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828800"/>
            <a:ext cx="502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874519"/>
            <a:ext cx="19659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HERRAMIENTA DINÁMICA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377440"/>
            <a:ext cx="2788920" cy="32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514600"/>
            <a:ext cx="251460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4761"/>
                </a:solidFill>
                <a:latin typeface="Calibri"/>
              </a:rPr>
              <a:t>Primer plan colombiano con plataforma
digital actualizable en un día hábil.
Garantiza sostenibilidad técnica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20/22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Recomendaciones para la Implementación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Acciones específicas que la administración debe iniciar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28800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87452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Adopción institucional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74520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Formalizar el PMIE 2026–2039 mediante acto administrativo distrital en 2026-II.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24328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487168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53288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Gestión de financiación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32888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Iniciar 2027-I gestiones con MEN, FFIE y cooperación internacional priorizando las 175 sedes con riesgo CRÍTICO/MUY ALTO.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45536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82696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145536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9125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Actualización trianual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91256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Ejecutar el ciclo de actualización en 2029, 2032, 2035 y 2038 utilizando la Herramienta Consolidada.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03904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41064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803904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849624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Saneamiento predial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849624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Regularización jurídica de sedes con situación irregular antes de inversiones en P1 y P4.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2272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99432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4462272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507992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Articulación interinst.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507992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Protocolos formales SED – Infraestructura – DAPM – DAHM – SHM y juntas administradoras locales.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640080" cy="640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5120640"/>
            <a:ext cx="1078992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16636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4761"/>
                </a:solidFill>
                <a:latin typeface="Calibri"/>
              </a:rPr>
              <a:t>Comunicación comunitaria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166360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Versión ciudadana del Plan (resumen visual de 20 páginas) para consejos directivos y comunidades.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PMIE 2026  ·  21/22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Plan Maestro de Infraestructura Educativa 2026–2039 · Secretaría de Educación Distrital · 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601968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Junio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F4761"/>
                </a:solidFill>
                <a:latin typeface="Calibri"/>
              </a:rPr>
              <a:t>Plan Indicativo — Metas 2030 y 2039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Indicadores de impacto del PMIE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1430000" cy="4572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Línea base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Meta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74519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Meta 2039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143000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59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Reducción del riesgo sísmico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59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55,4 % sedes alto riesgo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591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30 %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591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&lt; 10 %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163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Cumplimiento NTC 4595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0,707 promedio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163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0,80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8163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0,90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1143000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735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Suficiencia de área m²/estudiante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735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2,8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735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4,0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2735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5,36 m²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307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Cobertura oficial de matrícula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7307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~86 %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7307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95 %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7307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100 %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879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Sedes con obra terminada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1879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1879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1879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293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7200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645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Inversión ejecutada del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645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6451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40 %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451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100 %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023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4761"/>
                </a:solidFill>
                <a:latin typeface="Calibri"/>
              </a:rPr>
              <a:t>Actualizaciones trianuales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51023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10235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75B6"/>
                </a:solidFill>
                <a:latin typeface="Calibri"/>
              </a:rPr>
              <a:t>Sí (2029)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102352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6B2A"/>
                </a:solidFill>
                <a:latin typeface="Calibri"/>
              </a:rPr>
              <a:t>Sí (2032/35/38)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0" i="0">
                <a:solidFill>
                  <a:srgbClr val="FFD966"/>
                </a:solidFill>
                <a:latin typeface="Calibri"/>
              </a:rPr>
              <a:t>Plan Maestro de Infraestructura Educativa 2026–2039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Distrito de Santiago de Cali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Secretaría de Educación Distrital  ·  Subsecretaría de Planeación Sectorial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D966"/>
                </a:solidFill>
                <a:latin typeface="Calibri"/>
              </a:rPr>
              <a:t>pmie@cali.gov.co  ·  www.cali.gov.co/educacion/pmie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Junio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